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notesSlides/notesSlide1.xml" Type="http://schemas.openxmlformats.org/officeDocument/2006/relationships/notesSlide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37" Target="notesSlides/notesSlide14.xml" Type="http://schemas.openxmlformats.org/officeDocument/2006/relationships/notesSlide"/><Relationship Id="rId38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开场：AI Teacher 是一套用 AI 数字人替代真人教师完成 K12 教学与辅导的 SaaS 系统。一句话概括——以 AI 为师，上课有根有据，辅导随叫随到。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今天我们介绍它解决什么问题、如何工作、以及为什么值得合作。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本页给出六个章节：先讲痛点，再给解决方案，随后展开六大核心优势与七大能力全景，用与真人教师的对比和工程实证收尾，最后说明合作方式。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这一页从四个角色讲痛点：学校缺名师、教师被重复劳动占用、家长看不到课堂、学生课后无人答。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一句话收束：教学与辅导的最大缺口，是人不够、时间不够、信息不够。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方案一句话：云端负责调度与内容，教室盒子在本地完成渲染与推理，课堂现场由数字人完成授课与互动。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三个关键设计：授课不依赖云端持续连接、断网自动切换 4G/5G 双链路兜底、数据沉淀在学校一侧加密存储。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四端触点覆盖学生、家长、教师与管理者，订阅制按教室数核算。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第一条优势：上课有根有据。资料先入库，课堂按主题检索，回答只来自资料，系统提示词强制不编造。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这意味着校长可以放心：数字人讲的内容可以追溯到教师提供的教材与教案。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第二条优势：端云协同。云端只做调度与内容，教室盒子本地完成渲染与推理，网络只用于同步。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遇到弱网甚至断网，双链路自动切换 4G/5G，课程不中断——这对乡镇与网络不稳定的学校是关键卖点。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第三条优势：全流程自动。上传教材之后，讲稿生成、按表开课、点名、讲授、答疑、评估整条链路自动跑通。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对学校的价值：不需要为每个班配备真人老师驻场，AI 老师 24 小时在线，节假日照常授课。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第四条优势：课堂可感知可干预。视觉识别举手、走神、违纪，事件实时上报，违纪当场点名提醒。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这些行为数据沉淀进课堂评分与课后评估，并驱动预警引擎，学校对课堂有真实的掌控力。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第五条优势：学情数据真实可追溯。分数来自考勤、行为、作业、考试四类真实数据源，没有随机数。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每个分数都能回溯到原始事件，这让家长与学校对学情报告建立信任。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第六条优势：工程与安全。权限四级隔离并加密，AI 能力可灰度可回退，质量用自动化测试守住。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三个数字可以放心讲：91 项单元测试、5 条端到端链路 95 项断言全部真实数据库跑通，21 项权限矩阵测试。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这一页展开七大能力：自动上课、数字人授课、实时互动、课后辅导、作业批改、个性化学情、家长看课。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强调一站式的价值：学校不需要为每个环节采购不同系统，一个平台闭环。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四方方案：学校补齐师资缺口，老师从重复劳动解放，家长看课学情透明，学生随问随答。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每个角色都从痛点页的困境中获得对应答案。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这一页与真人教师做对比：备课、时间、答疑、学情、纪律五个维度。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立场要说清楚：AI 老师不是替代真人，而是补足时间、覆盖与一致性的客观限制，让真人老师去做好教研。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合作方式：订阅制，按学校年订阅、按教室数核算，学校免运维，数据归学校。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三步路径：预约演示、试点教室、规模化开课，先验证再放量，风险低。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收束：以 AI 为师，让每一节课都有据可依。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重申三个记忆点：上课有据、24 小时在线、数据归学校。邀请校方从预约演示开始合作。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.xml" Type="http://schemas.openxmlformats.org/officeDocument/2006/relationships/notesSlid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20.png" Type="http://schemas.openxmlformats.org/officeDocument/2006/relationships/image"/><Relationship Id="rId3" Target="../media/image21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36.png" Type="http://schemas.openxmlformats.org/officeDocument/2006/relationships/image"/><Relationship Id="rId5" Target="../media/image37.svg" Type="http://schemas.openxmlformats.org/officeDocument/2006/relationships/image"/><Relationship Id="rId6" Target="../media/image38.png" Type="http://schemas.openxmlformats.org/officeDocument/2006/relationships/image"/><Relationship Id="rId7" Target="../media/image39.svg" Type="http://schemas.openxmlformats.org/officeDocument/2006/relationships/image"/><Relationship Id="rId8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4.png" Type="http://schemas.openxmlformats.org/officeDocument/2006/relationships/image"/><Relationship Id="rId11" Target="../media/image45.svg" Type="http://schemas.openxmlformats.org/officeDocument/2006/relationships/image"/><Relationship Id="rId12" Target="../media/image46.png" Type="http://schemas.openxmlformats.org/officeDocument/2006/relationships/image"/><Relationship Id="rId13" Target="../media/image47.svg" Type="http://schemas.openxmlformats.org/officeDocument/2006/relationships/image"/><Relationship Id="rId14" Target="../media/image48.png" Type="http://schemas.openxmlformats.org/officeDocument/2006/relationships/image"/><Relationship Id="rId15" Target="../media/image49.svg" Type="http://schemas.openxmlformats.org/officeDocument/2006/relationships/image"/><Relationship Id="rId16" Target="../notesSlides/notesSlide11.xml" Type="http://schemas.openxmlformats.org/officeDocument/2006/relationships/notesSlid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42.png" Type="http://schemas.openxmlformats.org/officeDocument/2006/relationships/image"/><Relationship Id="rId9" Target="../media/image4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2.xml" Type="http://schemas.openxmlformats.org/officeDocument/2006/relationships/notesSlide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5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12" b="12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 txBox="true"/>
          <p:nvPr/>
        </p:nvSpPr>
        <p:spPr>
          <a:xfrm rot="0" flipH="false" flipV="false">
            <a:off x="914400" y="1270000"/>
            <a:ext cx="533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AI TEACHER · 智能教学引擎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914400" y="1854200"/>
            <a:ext cx="60960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58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以 AI 为师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914400" y="3175000"/>
            <a:ext cx="635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上课有根有据 · 辅导随叫随到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914400" y="3860800"/>
            <a:ext cx="5588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用 AI 数字人替代教师完成 K12 教学与辅导：自动授课、实时互动、作业批改、个性化学情，课后 AI 辅导随问随答，24 小时在线。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914400" y="6070600"/>
            <a:ext cx="5842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AI Teacher · K12 智能教学 SaaS 系统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name="Connector 2" id="2"/>
          <p:cNvCxnSpPr/>
          <p:nvPr/>
        </p:nvCxnSpPr>
        <p:spPr>
          <a:xfrm rot="-4774" flipH="false" flipV="false">
            <a:off x="1524004" y="2152650"/>
            <a:ext cx="914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" id="3"/>
          <p:cNvSpPr txBox="true"/>
          <p:nvPr/>
        </p:nvSpPr>
        <p:spPr>
          <a:xfrm rot="0" flipH="false" flipV="false">
            <a:off x="1524000" y="1066800"/>
            <a:ext cx="381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CONTENTS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524000" y="15494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4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目录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524000" y="2489200"/>
            <a:ext cx="457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01　行业痛点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524000" y="3200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校、师、家、生四方的教学困境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524000" y="3810000"/>
            <a:ext cx="457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02　解决方案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524000" y="45212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端云协同的 AI 数字人授课 SaaS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524000" y="5130800"/>
            <a:ext cx="457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03　核心优势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524000" y="5842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上课有据、端云协同、全流程自动等六大能力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6858000" y="2489200"/>
            <a:ext cx="457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04　能力全景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858000" y="32004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自动上课到家长看课的七大能力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6858000" y="3810000"/>
            <a:ext cx="457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05　对比与验证</a:t>
            </a:r>
            <a:endParaRPr lang="en-US" sz="1100"/>
          </a:p>
        </p:txBody>
      </p:sp>
      <p:sp>
        <p:nvSpPr>
          <p:cNvPr name="AutoShape 14" id="14"/>
          <p:cNvSpPr txBox="true"/>
          <p:nvPr/>
        </p:nvSpPr>
        <p:spPr>
          <a:xfrm rot="0" flipH="false" flipV="false">
            <a:off x="6858000" y="45212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与真人教师之别与工程实证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858000" y="5130800"/>
            <a:ext cx="4572000" cy="660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06　合作方式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6858000" y="5842000"/>
            <a:ext cx="457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订阅制交付，按教室数核算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09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01 · THE PAIN　行业痛点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教学与辅导的四方困境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92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5389257" flipH="false" flipV="false">
            <a:off x="4064000" y="41592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-4297" flipH="false" flipV="false">
            <a:off x="1016004" y="4260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1676400" y="22860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对学校　名师稀缺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2895600"/>
            <a:ext cx="4572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名师薪资高、招聘难，优质课堂无法规模化复制；一个名师的精力只能覆盖一个班级。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2860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7137400" y="22860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对教师　重复劳动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477000" y="2895600"/>
            <a:ext cx="4572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批改、点名、盯纪律占据大量时间，备课与个性化辅导的精力被持续挤压。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6228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 txBox="true"/>
          <p:nvPr/>
        </p:nvSpPr>
        <p:spPr>
          <a:xfrm rot="0" flipH="false" flipV="false">
            <a:off x="1676400" y="46228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对家长　信息黑箱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6000" y="5232400"/>
            <a:ext cx="4572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孩子在课堂上的状态、纪律与参与度家长看不到，作业之外没有细节，课后辅导无人响应。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622800"/>
            <a:ext cx="457200" cy="457200"/>
          </a:xfrm>
          <a:prstGeom prst="rect">
            <a:avLst/>
          </a:prstGeom>
        </p:spPr>
      </p:pic>
      <p:sp>
        <p:nvSpPr>
          <p:cNvPr name="AutoShape 17" id="17"/>
          <p:cNvSpPr txBox="true"/>
          <p:nvPr/>
        </p:nvSpPr>
        <p:spPr>
          <a:xfrm rot="0" flipH="false" flipV="false">
            <a:off x="7137400" y="46228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对学生　缺伴缺答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477000" y="5232400"/>
            <a:ext cx="4572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课后与假期遇到疑问无人解答，学习一离开课堂就中断，兴趣与习惯难以为继。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016000" y="6350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 · 痛点分析页（四方角色视角）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09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02 · THE SOLUTION　解决方案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一套 AI 数字人授课 SaaS，端云协同全流程自动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727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云调度内容 → 盒子本地授课 → 课堂实时互动，一条链路跑通，弱网不断课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524000" y="2235200"/>
            <a:ext cx="5334000" cy="1066800"/>
          </a:xfrm>
          <a:prstGeom prst="roundRect">
            <a:avLst>
              <a:gd name="adj" fmla="val 7142"/>
            </a:avLst>
          </a:prstGeom>
          <a:solidFill>
            <a:srgbClr val="8B2E2E">
              <a:alpha val="8000"/>
            </a:srgbClr>
          </a:solidFill>
          <a:ln w="12700" cmpd="sng" cap="flat">
            <a:solidFill>
              <a:srgbClr val="8B2E2E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778000" y="24384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2387600" y="2387600"/>
            <a:ext cx="431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云端 SaaS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387600" y="28194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课程调度 · 讲稿生成 · 学情沉淀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5292605" flipH="false" flipV="false">
            <a:off x="3987800" y="3498949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B2E2E">
                <a:alpha val="6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1524000" y="3708400"/>
            <a:ext cx="5334000" cy="1066800"/>
          </a:xfrm>
          <a:prstGeom prst="roundRect">
            <a:avLst>
              <a:gd name="adj" fmla="val 7142"/>
            </a:avLst>
          </a:prstGeom>
          <a:solidFill>
            <a:srgbClr val="8B2E2E">
              <a:alpha val="8000"/>
            </a:srgbClr>
          </a:solidFill>
          <a:ln w="12700" cmpd="sng" cap="flat">
            <a:solidFill>
              <a:srgbClr val="8B2E2E">
                <a:alpha val="3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778000" y="39116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 txBox="true"/>
          <p:nvPr/>
        </p:nvSpPr>
        <p:spPr>
          <a:xfrm rot="0" flipH="false" flipV="false">
            <a:off x="2387600" y="3860800"/>
            <a:ext cx="431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教室盒子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2387600" y="42926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Live2D 渲染 · 视觉语音本地推理</a:t>
            </a:r>
            <a:endParaRPr lang="en-US" sz="1100"/>
          </a:p>
        </p:txBody>
      </p:sp>
      <p:cxnSp>
        <p:nvCxnSpPr>
          <p:cNvPr name="Connector 14" id="14"/>
          <p:cNvCxnSpPr/>
          <p:nvPr/>
        </p:nvCxnSpPr>
        <p:spPr>
          <a:xfrm rot="5292605" flipH="false" flipV="false">
            <a:off x="3987800" y="4972149"/>
            <a:ext cx="40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B2E2E">
                <a:alpha val="6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1524000" y="5181600"/>
            <a:ext cx="5334000" cy="812800"/>
          </a:xfrm>
          <a:prstGeom prst="roundRect">
            <a:avLst>
              <a:gd name="adj" fmla="val 9375"/>
            </a:avLst>
          </a:prstGeom>
          <a:solidFill>
            <a:srgbClr val="2B2B2B">
              <a:alpha val="5000"/>
            </a:srgbClr>
          </a:solidFill>
          <a:ln w="12700" cmpd="sng" cap="flat">
            <a:solidFill>
              <a:srgbClr val="2B2B2B">
                <a:alpha val="25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778000" y="5334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 txBox="true"/>
          <p:nvPr/>
        </p:nvSpPr>
        <p:spPr>
          <a:xfrm rot="0" flipH="false" flipV="false">
            <a:off x="2387600" y="5257800"/>
            <a:ext cx="4318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7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课堂现场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2387600" y="56896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数字人授课 · 实时互动 · 自动点批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5388386" flipH="false" flipV="false">
            <a:off x="5486400" y="4108461"/>
            <a:ext cx="375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 txBox="true"/>
          <p:nvPr/>
        </p:nvSpPr>
        <p:spPr>
          <a:xfrm rot="0" flipH="false" flipV="false">
            <a:off x="7823200" y="2235200"/>
            <a:ext cx="3556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四端触点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823200" y="2692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学生端　听课 · 互动 · 提问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823200" y="3175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家长端　看课 · 学情 · 辅导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823200" y="3657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教师端　备课 · 上传 · 批改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7823200" y="41402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管理端　权限 · 数据 · 审计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7823200" y="4775200"/>
            <a:ext cx="3810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数据归学校所有：人脸与成绩加密存储；按学校年订阅、按教室数核算，学校免运维。</a:t>
            </a:r>
            <a:endParaRPr lang="en-US" sz="1100"/>
          </a:p>
        </p:txBody>
      </p:sp>
      <p:sp>
        <p:nvSpPr>
          <p:cNvPr name="AutoShape 26" id="26"/>
          <p:cNvSpPr txBox="true"/>
          <p:nvPr/>
        </p:nvSpPr>
        <p:spPr>
          <a:xfrm rot="0" flipH="false" flipV="false">
            <a:off x="1016000" y="6350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 · 解决方案与 FAQ（双链路兜底、数据归属、订阅方式）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09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03 · CORE ADVANTAGE　核心优势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优势 01　上课有根有据，不靠大模型编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727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讲稿与知识点来自真实资料，检索增强后作答，回答可溯源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2352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879600" y="23114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2489200" y="2260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资料入库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489200" y="26924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教师上传教材与教案，系统解析成讲稿与知识点库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33020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879600" y="33782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2489200" y="3327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检索组装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489200" y="37592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上课按本课主题 2-gram 检索，组装上下文与回答依据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43688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879600" y="4445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 txBox="true"/>
          <p:nvPr/>
        </p:nvSpPr>
        <p:spPr>
          <a:xfrm rot="0" flipH="false" flipV="false">
            <a:off x="2489200" y="4394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有据作答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2489200" y="48260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数字人只依据资料作答，系统提示词强制不编造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5588000"/>
            <a:ext cx="558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结论　回答落在资料范围内，跨科答疑走同一检索链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388386" flipH="false" flipV="false">
            <a:off x="5232400" y="4108461"/>
            <a:ext cx="375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 txBox="true"/>
          <p:nvPr/>
        </p:nvSpPr>
        <p:spPr>
          <a:xfrm rot="0" flipH="false" flipV="false">
            <a:off x="7569200" y="22352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官网 HERO 原话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569200" y="2641600"/>
            <a:ext cx="4318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4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上课有根有据，辅导随叫随到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569200" y="3759200"/>
            <a:ext cx="3810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教师上传教材与教案，系统解析入库；数字人按本课主题检索组装上下文，回答全部落在资料范围内，不凭空发挥。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569200" y="5181600"/>
            <a:ext cx="381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工程实证：检索增强链以 2-gram 检索组装上下文，配合 LangGraph 课堂 Agent 编排作答。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016000" y="6350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 Hero / 功能说明；README 检索增强实现（2-gram 检索组装上下文）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09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03 · CORE ADVANTAGE　核心优势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优势 02　端云协同，教室弱网可用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727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授课在教室本地完成，云端只做调度与内容；主网络断，自动切 4G/5G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2352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879600" y="23114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2489200" y="2260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云端轻载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489200" y="26924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只做课程调度与内容下发，不承担课堂渲染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33528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879600" y="3429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2489200" y="3378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本地推理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489200" y="38100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教室盒子本地跑 Live2D 渲染、视觉与语音推理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44704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879600" y="45466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 txBox="true"/>
          <p:nvPr/>
        </p:nvSpPr>
        <p:spPr>
          <a:xfrm rot="0" flipH="false" flipV="false">
            <a:off x="2489200" y="44958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弱网兜底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2489200" y="49276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双链路兜底，主网络断自动切 4G/5G，课程不中断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5588000"/>
            <a:ext cx="558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结论　网络只用于内容同步与学情上报，授课永不掉线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388386" flipH="false" flipV="false">
            <a:off x="5232400" y="4108461"/>
            <a:ext cx="375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 txBox="true"/>
          <p:nvPr/>
        </p:nvSpPr>
        <p:spPr>
          <a:xfrm rot="0" flipH="false" flipV="false">
            <a:off x="7569200" y="2235200"/>
            <a:ext cx="3556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官网 FAQ 原话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569200" y="2641600"/>
            <a:ext cx="4064000" cy="1117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教室双链路兜底，主网络断自动切 4G/5G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569200" y="4013200"/>
            <a:ext cx="3810000" cy="1066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课堂渲染与交互推理全部在教室本地完成，网络波动不影响授课；云端仅在课前同步内容、课后回收学情。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569200" y="5181600"/>
            <a:ext cx="381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工程实证：视觉与语音推理本地化部署（ONNX 运行时、Whisper 语音识别），弱网与离线均可授课。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1016000" y="6350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 FAQ（双链路兜底）；README 本地推理实现（ONNX / Whisper）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09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03 · CORE ADVANTAGE　核心优势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优势 03　全流程自动，一条链路跑通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727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从备课到评估全自动，一位不知疲倦的 AI 老师，24 小时在线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387600"/>
            <a:ext cx="1460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01 上传教材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2844800"/>
            <a:ext cx="146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教师一键上传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201987" flipH="false" flipV="false">
            <a:off x="2527487" y="2584450"/>
            <a:ext cx="215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B2E2E">
                <a:alpha val="6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2794000" y="2387600"/>
            <a:ext cx="1460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02 生成讲稿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2794000" y="2844800"/>
            <a:ext cx="146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教案解析入库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201987" flipH="false" flipV="false">
            <a:off x="4305487" y="2584450"/>
            <a:ext cx="215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B2E2E">
                <a:alpha val="6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1" id="11"/>
          <p:cNvSpPr txBox="true"/>
          <p:nvPr/>
        </p:nvSpPr>
        <p:spPr>
          <a:xfrm rot="0" flipH="false" flipV="false">
            <a:off x="4572000" y="2387600"/>
            <a:ext cx="1460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03 按表开课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572000" y="2844800"/>
            <a:ext cx="146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课表自动调度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-201987" flipH="false" flipV="false">
            <a:off x="6083487" y="2584450"/>
            <a:ext cx="215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B2E2E">
                <a:alpha val="6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4" id="14"/>
          <p:cNvSpPr txBox="true"/>
          <p:nvPr/>
        </p:nvSpPr>
        <p:spPr>
          <a:xfrm rot="0" flipH="false" flipV="false">
            <a:off x="6350000" y="2387600"/>
            <a:ext cx="1460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04 自动点名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6350000" y="2844800"/>
            <a:ext cx="146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视觉签到入册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42709" flipH="false" flipV="false">
            <a:off x="6692900" y="35751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B2E2E">
                <a:alpha val="6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17" id="17"/>
          <p:cNvSpPr txBox="true"/>
          <p:nvPr/>
        </p:nvSpPr>
        <p:spPr>
          <a:xfrm rot="0" flipH="false" flipV="false">
            <a:off x="1016000" y="4064000"/>
            <a:ext cx="1460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05 数字人讲授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1016000" y="4521200"/>
            <a:ext cx="146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有据授课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201987" flipH="false" flipV="false">
            <a:off x="2527487" y="4260850"/>
            <a:ext cx="215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B2E2E">
                <a:alpha val="6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20" id="20"/>
          <p:cNvSpPr txBox="true"/>
          <p:nvPr/>
        </p:nvSpPr>
        <p:spPr>
          <a:xfrm rot="0" flipH="false" flipV="false">
            <a:off x="2794000" y="4064000"/>
            <a:ext cx="1460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06 互动答疑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2794000" y="4521200"/>
            <a:ext cx="146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随问随答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201987" flipH="false" flipV="false">
            <a:off x="4305487" y="4260850"/>
            <a:ext cx="2159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8B2E2E">
                <a:alpha val="60000"/>
              </a:srgbClr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name="AutoShape 23" id="23"/>
          <p:cNvSpPr txBox="true"/>
          <p:nvPr/>
        </p:nvSpPr>
        <p:spPr>
          <a:xfrm rot="0" flipH="false" flipV="false">
            <a:off x="4572000" y="4064000"/>
            <a:ext cx="1460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07 课后评估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4572000" y="4521200"/>
            <a:ext cx="1460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学情自动沉淀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5388386" flipH="false" flipV="false">
            <a:off x="6248400" y="4108461"/>
            <a:ext cx="375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6" id="26"/>
          <p:cNvSpPr txBox="true"/>
          <p:nvPr/>
        </p:nvSpPr>
        <p:spPr>
          <a:xfrm rot="0" flipH="false" flipV="false">
            <a:off x="8483600" y="24892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21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一位不知疲倦的 AI 老师，24 小时在线</a:t>
            </a:r>
            <a:endParaRPr lang="en-US" sz="1100"/>
          </a:p>
        </p:txBody>
      </p:sp>
      <p:sp>
        <p:nvSpPr>
          <p:cNvPr name="AutoShape 27" id="27"/>
          <p:cNvSpPr txBox="true"/>
          <p:nvPr/>
        </p:nvSpPr>
        <p:spPr>
          <a:xfrm rot="0" flipH="false" flipV="false">
            <a:off x="8483600" y="38608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全流程无需人工值守：备课、开课、点名、授课、答疑、评估自动衔接，节假日照常授课。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8483600" y="54356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 Hero 文案</a:t>
            </a:r>
            <a:endParaRPr lang="en-US" sz="1100"/>
          </a:p>
        </p:txBody>
      </p:sp>
      <p:sp>
        <p:nvSpPr>
          <p:cNvPr name="AutoShape 29" id="29"/>
          <p:cNvSpPr txBox="true"/>
          <p:nvPr/>
        </p:nvSpPr>
        <p:spPr>
          <a:xfrm rot="0" flipH="false" flipV="false">
            <a:off x="1016000" y="6350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 Hero / 功能页（自动上课、数字人授课、课后评估链路）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09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03 · CORE ADVANTAGE　核心优势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优势 04　课堂可感知、可干预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727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举手、走神、违纪视觉事件实时上报，必要时当场点名提醒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2352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879600" y="23114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2489200" y="2260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实时感知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489200" y="26924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视觉识别举手、走神、违纪行为，事件实时上报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33528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879600" y="3429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2489200" y="3378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即时干预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489200" y="38100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违纪当场点名提醒，不打断授课节奏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44704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879600" y="45466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 txBox="true"/>
          <p:nvPr/>
        </p:nvSpPr>
        <p:spPr>
          <a:xfrm rot="0" flipH="false" flipV="false">
            <a:off x="2489200" y="44958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数据沉淀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2489200" y="49276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行为数据进课堂评分、课后评估与预警引擎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5588000"/>
            <a:ext cx="5588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结论　看见每一个学生，必要时开口提醒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5388386" flipH="false" flipV="false">
            <a:off x="5232400" y="4108461"/>
            <a:ext cx="375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 txBox="true"/>
          <p:nvPr/>
        </p:nvSpPr>
        <p:spPr>
          <a:xfrm rot="0" flipH="false" flipV="false">
            <a:off x="7569200" y="2489200"/>
            <a:ext cx="381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课堂可感知、可干预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569200" y="3505200"/>
            <a:ext cx="38100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数字人既是老师也是纪律员：识别举手优先提问，捕捉走神与违纪即时提醒，行为数据沉淀为课堂评分与预警依据。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569200" y="4978400"/>
            <a:ext cx="3810000" cy="914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工程实证：预警引擎覆盖成绩下滑、连续缺课、纪律频发、出勤异常四类规则。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1016000" y="6350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官网功能页（实时互动、家长看课）；README 预警引擎实现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09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03 · CORE ADVANTAGE　核心优势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优势 05　学情数据真实、可追溯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727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课堂评分与课后评估全部来自真实数据源，无随机数，每个分数可回溯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2352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879600" y="23114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2489200" y="2260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考勤数据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489200" y="26924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视觉签到与自动点名结果入册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32004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879600" y="32766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2489200" y="32258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行为数据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489200" y="36576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举手、走神、违纪事件逐条记录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41656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879600" y="42418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 txBox="true"/>
          <p:nvPr/>
        </p:nvSpPr>
        <p:spPr>
          <a:xfrm rot="0" flipH="false" flipV="false">
            <a:off x="2489200" y="41910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作业数据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2489200" y="46228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自动批改结果与完成情况</a:t>
            </a:r>
            <a:endParaRPr lang="en-US" sz="1100"/>
          </a:p>
        </p:txBody>
      </p:sp>
      <p:sp>
        <p:nvSpPr>
          <p:cNvPr name="AutoShape 17" id="17"/>
          <p:cNvSpPr txBox="true"/>
          <p:nvPr/>
        </p:nvSpPr>
        <p:spPr>
          <a:xfrm rot="0" flipH="false" flipV="false">
            <a:off x="1016000" y="51308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04</a:t>
            </a:r>
            <a:endParaRPr lang="en-US" sz="1100"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879600" y="5207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 txBox="true"/>
          <p:nvPr/>
        </p:nvSpPr>
        <p:spPr>
          <a:xfrm rot="0" flipH="false" flipV="false">
            <a:off x="2489200" y="5156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考试数据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2489200" y="55880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随堂测验与考试成绩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5388386" flipH="false" flipV="false">
            <a:off x="5232400" y="4108461"/>
            <a:ext cx="375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 txBox="true"/>
          <p:nvPr/>
        </p:nvSpPr>
        <p:spPr>
          <a:xfrm rot="0" flipH="false" flipV="false">
            <a:off x="7569200" y="2489200"/>
            <a:ext cx="381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真实数据，可回溯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569200" y="3505200"/>
            <a:ext cx="3810000" cy="1320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课堂评分与课后评估全部来自四类真实数据源，不掺随机数；每个分数可回溯到原始事件，家长与管理者拿到的学情可信。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7569200" y="5130800"/>
            <a:ext cx="381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2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工程实证：评估分由考勤、行为、作业、考试四类数据源加权计算，逐项可查。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1016000" y="6350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官网功能页（个性化学情）；README 评估引擎实现（四类数据源）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09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03 · CORE ADVANTAGE　核心优势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优势 06　权限严格，AI 克制，工程质量可验证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727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四级权限边界 + 每个 AI 能力灰度可控 + 全量自动化测试实证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57200" cy="457200"/>
          </a:xfrm>
          <a:prstGeom prst="rect">
            <a:avLst/>
          </a:prstGeom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1016000" y="29464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权限边界严格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016000" y="3429000"/>
            <a:ext cx="30480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学校、集团、年级、学科四级数据范围隔离；人脸与成绩加密存储，数据归学校所有。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1016000" y="4572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21 项权限矩阵测试覆盖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572000" y="2286000"/>
            <a:ext cx="457200" cy="457200"/>
          </a:xfrm>
          <a:prstGeom prst="rect">
            <a:avLst/>
          </a:prstGeom>
        </p:spPr>
      </p:pic>
      <p:sp>
        <p:nvSpPr>
          <p:cNvPr name="AutoShape 10" id="10"/>
          <p:cNvSpPr txBox="true"/>
          <p:nvPr/>
        </p:nvSpPr>
        <p:spPr>
          <a:xfrm rot="0" flipH="false" flipV="false">
            <a:off x="4572000" y="29464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克制地用 AI</a:t>
            </a:r>
            <a:endParaRPr lang="en-US" sz="1100"/>
          </a:p>
        </p:txBody>
      </p:sp>
      <p:sp>
        <p:nvSpPr>
          <p:cNvPr name="AutoShape 11" id="11"/>
          <p:cNvSpPr txBox="true"/>
          <p:nvPr/>
        </p:nvSpPr>
        <p:spPr>
          <a:xfrm rot="0" flipH="false" flipV="false">
            <a:off x="4572000" y="3429000"/>
            <a:ext cx="30480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每个 AI 能力都有灰度开关与降级路径：可逐步放量、可随时回退，杜绝失控的黑盒。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4572000" y="4572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灰度开关 · 防双写 · 降级路径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128000" y="22860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 txBox="true"/>
          <p:nvPr/>
        </p:nvSpPr>
        <p:spPr>
          <a:xfrm rot="0" flipH="false" flipV="false">
            <a:off x="8128000" y="29464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工程质量可验证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8128000" y="3429000"/>
            <a:ext cx="3048000" cy="990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核心链路以自动化测试守住：单测覆盖关键模块，端到端链路在真实数据库跑通。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8128000" y="4572000"/>
            <a:ext cx="304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tru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91 项单测 · 5 条端到端链路 · 95 项断言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4297" flipH="false" flipV="false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 txBox="true"/>
          <p:nvPr/>
        </p:nvSpPr>
        <p:spPr>
          <a:xfrm rot="0" flipH="false" flipV="false">
            <a:off x="1016000" y="5689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架构规模　42 个后端模块 · 51 张表 · LangGraph 课堂 Agent 编排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016000" y="6350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 FAQ（数据归属、人脸与成绩加密）；README 测试与架构（单测 / E2E / 模块表）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09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04 · CAPABILITIES　能力全景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七大教学能力，一站式覆盖课堂内外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727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从自动开课到家长看课，一条链路完整覆盖教学全流程</a:t>
            </a:r>
            <a:endParaRPr lang="en-US" sz="1100"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35200"/>
            <a:ext cx="355600" cy="355600"/>
          </a:xfrm>
          <a:prstGeom prst="rect">
            <a:avLst/>
          </a:prstGeom>
        </p:spPr>
      </p:pic>
      <p:sp>
        <p:nvSpPr>
          <p:cNvPr name="AutoShape 6" id="6"/>
          <p:cNvSpPr txBox="true"/>
          <p:nvPr/>
        </p:nvSpPr>
        <p:spPr>
          <a:xfrm rot="0" flipH="false" flipV="false">
            <a:off x="1574800" y="2184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自动上课</a:t>
            </a:r>
            <a:endParaRPr lang="en-US" sz="1100"/>
          </a:p>
        </p:txBody>
      </p:sp>
      <p:sp>
        <p:nvSpPr>
          <p:cNvPr name="AutoShape 7" id="7"/>
          <p:cNvSpPr txBox="true"/>
          <p:nvPr/>
        </p:nvSpPr>
        <p:spPr>
          <a:xfrm rot="0" flipH="false" flipV="false">
            <a:off x="1574800" y="26162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按课表自动开课，无需人工值守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997200"/>
            <a:ext cx="355600" cy="355600"/>
          </a:xfrm>
          <a:prstGeom prst="rect">
            <a:avLst/>
          </a:prstGeom>
        </p:spPr>
      </p:pic>
      <p:sp>
        <p:nvSpPr>
          <p:cNvPr name="AutoShape 9" id="9"/>
          <p:cNvSpPr txBox="true"/>
          <p:nvPr/>
        </p:nvSpPr>
        <p:spPr>
          <a:xfrm rot="0" flipH="false" flipV="false">
            <a:off x="1574800" y="2946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数字人授课</a:t>
            </a:r>
            <a:endParaRPr lang="en-US" sz="1100"/>
          </a:p>
        </p:txBody>
      </p:sp>
      <p:sp>
        <p:nvSpPr>
          <p:cNvPr name="AutoShape 10" id="10"/>
          <p:cNvSpPr txBox="true"/>
          <p:nvPr/>
        </p:nvSpPr>
        <p:spPr>
          <a:xfrm rot="0" flipH="false" flipV="false">
            <a:off x="1574800" y="33782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5 个通用数字人形象可配置切换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759200"/>
            <a:ext cx="355600" cy="355600"/>
          </a:xfrm>
          <a:prstGeom prst="rect">
            <a:avLst/>
          </a:prstGeom>
        </p:spPr>
      </p:pic>
      <p:sp>
        <p:nvSpPr>
          <p:cNvPr name="AutoShape 12" id="12"/>
          <p:cNvSpPr txBox="true"/>
          <p:nvPr/>
        </p:nvSpPr>
        <p:spPr>
          <a:xfrm rot="0" flipH="false" flipV="false">
            <a:off x="1574800" y="3708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实时互动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574800" y="41402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随问随答，跨科答疑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521200"/>
            <a:ext cx="355600" cy="355600"/>
          </a:xfrm>
          <a:prstGeom prst="rect">
            <a:avLst/>
          </a:prstGeom>
        </p:spPr>
      </p:pic>
      <p:sp>
        <p:nvSpPr>
          <p:cNvPr name="AutoShape 15" id="15"/>
          <p:cNvSpPr txBox="true"/>
          <p:nvPr/>
        </p:nvSpPr>
        <p:spPr>
          <a:xfrm rot="0" flipH="false" flipV="false">
            <a:off x="1574800" y="44704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课后辅导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1574800" y="49022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课后 AI 辅导，随叫随到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096000" y="2235200"/>
            <a:ext cx="355600" cy="355600"/>
          </a:xfrm>
          <a:prstGeom prst="rect">
            <a:avLst/>
          </a:prstGeom>
        </p:spPr>
      </p:pic>
      <p:sp>
        <p:nvSpPr>
          <p:cNvPr name="AutoShape 18" id="18"/>
          <p:cNvSpPr txBox="true"/>
          <p:nvPr/>
        </p:nvSpPr>
        <p:spPr>
          <a:xfrm rot="0" flipH="false" flipV="false">
            <a:off x="6654800" y="2184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作业批改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6654800" y="26162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客观题自动判定，主观题辅助批改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096000" y="2997200"/>
            <a:ext cx="355600" cy="355600"/>
          </a:xfrm>
          <a:prstGeom prst="rect">
            <a:avLst/>
          </a:prstGeom>
        </p:spPr>
      </p:pic>
      <p:sp>
        <p:nvSpPr>
          <p:cNvPr name="AutoShape 21" id="21"/>
          <p:cNvSpPr txBox="true"/>
          <p:nvPr/>
        </p:nvSpPr>
        <p:spPr>
          <a:xfrm rot="0" flipH="false" flipV="false">
            <a:off x="6654800" y="2946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个性化学情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6654800" y="33782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考勤行为作业考试综合评估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096000" y="3759200"/>
            <a:ext cx="355600" cy="355600"/>
          </a:xfrm>
          <a:prstGeom prst="rect">
            <a:avLst/>
          </a:prstGeom>
        </p:spPr>
      </p:pic>
      <p:sp>
        <p:nvSpPr>
          <p:cNvPr name="AutoShape 24" id="24"/>
          <p:cNvSpPr txBox="true"/>
          <p:nvPr/>
        </p:nvSpPr>
        <p:spPr>
          <a:xfrm rot="0" flipH="false" flipV="false">
            <a:off x="6654800" y="3708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家长看课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6654800" y="41402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实时观看课堂，查看孩子学情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4297" flipH="false" flipV="false">
            <a:off x="1016004" y="5454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 txBox="true"/>
          <p:nvPr/>
        </p:nvSpPr>
        <p:spPr>
          <a:xfrm rot="0" flipH="false" flipV="false">
            <a:off x="1016000" y="56896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一站式　校方不用拼装多套系统，课堂内外一个平台闭环</a:t>
            </a:r>
            <a:endParaRPr lang="en-US" sz="1100"/>
          </a:p>
        </p:txBody>
      </p:sp>
      <p:sp>
        <p:nvSpPr>
          <p:cNvPr name="AutoShape 28" id="28"/>
          <p:cNvSpPr txBox="true"/>
          <p:nvPr/>
        </p:nvSpPr>
        <p:spPr>
          <a:xfrm rot="0" flipH="false" flipV="false">
            <a:off x="1016000" y="6350000"/>
            <a:ext cx="9652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官网功能页（自动上课 / 数字人授课 / 实时互动 / 课后辅导 / 作业批改 / 个性化学情 / 家长看课）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09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04 · CAPABILITIES　能力全景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每个角色都有自己的答案</a:t>
            </a:r>
            <a:endParaRPr lang="en-US" sz="1100"/>
          </a:p>
        </p:txBody>
      </p:sp>
      <p:cxnSp>
        <p:nvCxnSpPr>
          <p:cNvPr name="Connector 4" id="4"/>
          <p:cNvCxnSpPr/>
          <p:nvPr/>
        </p:nvCxnSpPr>
        <p:spPr>
          <a:xfrm rot="-4297" flipH="false" flipV="false">
            <a:off x="1016004" y="19240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5" id="5"/>
          <p:cNvCxnSpPr/>
          <p:nvPr/>
        </p:nvCxnSpPr>
        <p:spPr>
          <a:xfrm rot="5389257" flipH="false" flipV="false">
            <a:off x="4064000" y="41592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name="Connector 6" id="6"/>
          <p:cNvCxnSpPr/>
          <p:nvPr/>
        </p:nvCxnSpPr>
        <p:spPr>
          <a:xfrm rot="-4297" flipH="false" flipV="false">
            <a:off x="1016004" y="42608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2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336800"/>
            <a:ext cx="457200" cy="457200"/>
          </a:xfrm>
          <a:prstGeom prst="rect">
            <a:avLst/>
          </a:prstGeom>
        </p:spPr>
      </p:pic>
      <p:sp>
        <p:nvSpPr>
          <p:cNvPr name="AutoShape 8" id="8"/>
          <p:cNvSpPr txBox="true"/>
          <p:nvPr/>
        </p:nvSpPr>
        <p:spPr>
          <a:xfrm rot="0" flipH="false" flipV="false">
            <a:off x="1676400" y="23368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给学校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29464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一套系统补齐名师缺口，弱网不断课；按学校年订阅、按教室数核算，数据归学校，免运维。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336800"/>
            <a:ext cx="457200" cy="457200"/>
          </a:xfrm>
          <a:prstGeom prst="rect">
            <a:avLst/>
          </a:prstGeom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7137400" y="23368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给老师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6477000" y="2946400"/>
            <a:ext cx="457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从批改、点名、盯纪律中解放出来，专注备课与教研；上传教材即可生成讲稿，一键开课。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673600"/>
            <a:ext cx="457200" cy="457200"/>
          </a:xfrm>
          <a:prstGeom prst="rect">
            <a:avLst/>
          </a:prstGeom>
        </p:spPr>
      </p:pic>
      <p:sp>
        <p:nvSpPr>
          <p:cNvPr name="AutoShape 14" id="14"/>
          <p:cNvSpPr txBox="true"/>
          <p:nvPr/>
        </p:nvSpPr>
        <p:spPr>
          <a:xfrm rot="0" flipH="false" flipV="false">
            <a:off x="1676400" y="46736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给家长</a:t>
            </a:r>
            <a:endParaRPr lang="en-US" sz="1100"/>
          </a:p>
        </p:txBody>
      </p:sp>
      <p:sp>
        <p:nvSpPr>
          <p:cNvPr name="AutoShape 15" id="15"/>
          <p:cNvSpPr txBox="true"/>
          <p:nvPr/>
        </p:nvSpPr>
        <p:spPr>
          <a:xfrm rot="0" flipH="false" flipV="false">
            <a:off x="1016000" y="52832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实时看课、学情透明；课后 AI 辅导随叫随到，孩子的问题有人答。</a:t>
            </a:r>
            <a:endParaRPr lang="en-US" sz="1100"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673600"/>
            <a:ext cx="457200" cy="457200"/>
          </a:xfrm>
          <a:prstGeom prst="rect">
            <a:avLst/>
          </a:prstGeom>
        </p:spPr>
      </p:pic>
      <p:sp>
        <p:nvSpPr>
          <p:cNvPr name="AutoShape 17" id="17"/>
          <p:cNvSpPr txBox="true"/>
          <p:nvPr/>
        </p:nvSpPr>
        <p:spPr>
          <a:xfrm rot="0" flipH="false" flipV="false">
            <a:off x="7137400" y="4673600"/>
            <a:ext cx="4064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9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给学生</a:t>
            </a:r>
            <a:endParaRPr lang="en-US" sz="1100"/>
          </a:p>
        </p:txBody>
      </p:sp>
      <p:sp>
        <p:nvSpPr>
          <p:cNvPr name="AutoShape 18" id="18"/>
          <p:cNvSpPr txBox="true"/>
          <p:nvPr/>
        </p:nvSpPr>
        <p:spPr>
          <a:xfrm rot="0" flipH="false" flipV="false">
            <a:off x="6477000" y="52832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3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数字人老师 24 小时在线，随问随答跨科答疑；课堂行为被看见，学习习惯有人管。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1016000" y="6350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官网痛点页 / 解决方案页（四方角色视角）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09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05 · PROOF　对比与验证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AI 老师与真人教师：补的不是替代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727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在时间、覆盖与一致性上补足真人教师的客观限制</a:t>
            </a:r>
            <a:endParaRPr lang="en-US" sz="1100"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235200"/>
          <a:ext cx="10160000" cy="3810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3810000"/>
                <a:gridCol w="4445000"/>
              </a:tblGrid>
              <a:tr h="5080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对比维度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2E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真人教师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2E2E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 老师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B2E2E">
                        <a:alpha val="100000"/>
                      </a:srgbClr>
                    </a:solidFill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备课与授课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4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受限于个人精力与经验，好课难复制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8B2E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教材解析入库，检索增强有据授课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工作时间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4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上班时间授课，精力有限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8B2E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24 小时在线，节假日照常授课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课后答疑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4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下班后难以及时响应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8B2E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随问随答，跨科可答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学情反馈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4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凭记忆与抽查，偏主观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8B2E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四类数据源加权，逐项可回溯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60400"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200">
                          <a:solidFill>
                            <a:srgbClr val="2B2B2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课堂纪律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4A4A4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依赖个人盯防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200">
                          <a:solidFill>
                            <a:srgbClr val="8B2E2E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视觉感知，实时干预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6" id="6"/>
          <p:cNvSpPr txBox="true"/>
          <p:nvPr/>
        </p:nvSpPr>
        <p:spPr>
          <a:xfrm rot="0" flipH="false" flipV="false">
            <a:off x="1016000" y="61722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 vs 真人教师双对比表；能力来自官网功能说明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7F2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609600"/>
            <a:ext cx="508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06 · PARTNERSHIP　合作方式</a:t>
            </a:r>
            <a:endParaRPr lang="en-US" sz="1100"/>
          </a:p>
        </p:txBody>
      </p:sp>
      <p:sp>
        <p:nvSpPr>
          <p:cNvPr name="AutoShape 3" id="3"/>
          <p:cNvSpPr txBox="true"/>
          <p:nvPr/>
        </p:nvSpPr>
        <p:spPr>
          <a:xfrm rot="0" flipH="false" flipV="false">
            <a:off x="1016000" y="1016000"/>
            <a:ext cx="1016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2B2B2B"/>
                </a:solidFill>
                <a:latin typeface="Noto Serif SC"/>
                <a:ea typeface="Noto Serif SC"/>
                <a:cs typeface="Noto Serif SC"/>
                <a:sym typeface="Noto Serif SC"/>
              </a:rPr>
              <a:t>订阅制交付，按教室数核算</a:t>
            </a:r>
            <a:endParaRPr lang="en-US" sz="1100"/>
          </a:p>
        </p:txBody>
      </p:sp>
      <p:sp>
        <p:nvSpPr>
          <p:cNvPr name="AutoShape 4" id="4"/>
          <p:cNvSpPr txBox="true"/>
          <p:nvPr/>
        </p:nvSpPr>
        <p:spPr>
          <a:xfrm rot="0" flipH="false" flipV="false">
            <a:off x="1016000" y="1727200"/>
            <a:ext cx="1016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8B2E2E"/>
                </a:solidFill>
                <a:latin typeface="Noto Sans SC"/>
                <a:ea typeface="Noto Sans SC"/>
                <a:cs typeface="Noto Sans SC"/>
                <a:sym typeface="Noto Sans SC"/>
              </a:rPr>
              <a:t>成本透明可预期，学校免运维，数据归学校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22352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01</a:t>
            </a:r>
            <a:endParaRPr lang="en-US" sz="1100"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879600" y="23114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 txBox="true"/>
          <p:nvPr/>
        </p:nvSpPr>
        <p:spPr>
          <a:xfrm rot="0" flipH="false" flipV="false">
            <a:off x="2489200" y="22606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订阅制</a:t>
            </a:r>
            <a:endParaRPr lang="en-US" sz="1100"/>
          </a:p>
        </p:txBody>
      </p:sp>
      <p:sp>
        <p:nvSpPr>
          <p:cNvPr name="AutoShape 8" id="8"/>
          <p:cNvSpPr txBox="true"/>
          <p:nvPr/>
        </p:nvSpPr>
        <p:spPr>
          <a:xfrm rot="0" flipH="false" flipV="false">
            <a:off x="2489200" y="26924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按学校年订阅、按教室数核算，成本透明可预期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1016000" y="33528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02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879600" y="3429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 txBox="true"/>
          <p:nvPr/>
        </p:nvSpPr>
        <p:spPr>
          <a:xfrm rot="0" flipH="false" flipV="false">
            <a:off x="2489200" y="33782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免运维</a:t>
            </a:r>
            <a:endParaRPr lang="en-US" sz="1100"/>
          </a:p>
        </p:txBody>
      </p:sp>
      <p:sp>
        <p:nvSpPr>
          <p:cNvPr name="AutoShape 12" id="12"/>
          <p:cNvSpPr txBox="true"/>
          <p:nvPr/>
        </p:nvSpPr>
        <p:spPr>
          <a:xfrm rot="0" flipH="false" flipV="false">
            <a:off x="2489200" y="38100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云端 SaaS 与教室盒子一体交付，学校零运维</a:t>
            </a:r>
            <a:endParaRPr lang="en-US" sz="1100"/>
          </a:p>
        </p:txBody>
      </p:sp>
      <p:sp>
        <p:nvSpPr>
          <p:cNvPr name="AutoShape 13" id="13"/>
          <p:cNvSpPr txBox="true"/>
          <p:nvPr/>
        </p:nvSpPr>
        <p:spPr>
          <a:xfrm rot="0" flipH="false" flipV="false">
            <a:off x="1016000" y="4470400"/>
            <a:ext cx="7112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0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03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879600" y="45466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 txBox="true"/>
          <p:nvPr/>
        </p:nvSpPr>
        <p:spPr>
          <a:xfrm rot="0" flipH="false" flipV="false">
            <a:off x="2489200" y="44958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数据自有</a:t>
            </a:r>
            <a:endParaRPr lang="en-US" sz="1100"/>
          </a:p>
        </p:txBody>
      </p:sp>
      <p:sp>
        <p:nvSpPr>
          <p:cNvPr name="AutoShape 16" id="16"/>
          <p:cNvSpPr txBox="true"/>
          <p:nvPr/>
        </p:nvSpPr>
        <p:spPr>
          <a:xfrm rot="0" flipH="false" flipV="false">
            <a:off x="2489200" y="49276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数据归学校所有，人脸与成绩加密存储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5388386" flipH="false" flipV="false">
            <a:off x="5232400" y="4108461"/>
            <a:ext cx="3759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2B2B2B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 txBox="true"/>
          <p:nvPr/>
        </p:nvSpPr>
        <p:spPr>
          <a:xfrm rot="0" flipH="false" flipV="false">
            <a:off x="7569200" y="2336800"/>
            <a:ext cx="3556000" cy="558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8B2E2E"/>
                </a:solidFill>
                <a:latin typeface="Noto Serif SC"/>
                <a:ea typeface="Noto Serif SC"/>
                <a:cs typeface="Noto Serif SC"/>
                <a:sym typeface="Noto Serif SC"/>
              </a:rPr>
              <a:t>三步合作路径</a:t>
            </a:r>
            <a:endParaRPr lang="en-US" sz="1100"/>
          </a:p>
        </p:txBody>
      </p:sp>
      <p:sp>
        <p:nvSpPr>
          <p:cNvPr name="AutoShape 19" id="19"/>
          <p:cNvSpPr txBox="true"/>
          <p:nvPr/>
        </p:nvSpPr>
        <p:spPr>
          <a:xfrm rot="0" flipH="false" flipV="false">
            <a:off x="7569200" y="314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01　预约演示</a:t>
            </a:r>
            <a:endParaRPr lang="en-US" sz="1100"/>
          </a:p>
        </p:txBody>
      </p:sp>
      <p:sp>
        <p:nvSpPr>
          <p:cNvPr name="AutoShape 20" id="20"/>
          <p:cNvSpPr txBox="true"/>
          <p:nvPr/>
        </p:nvSpPr>
        <p:spPr>
          <a:xfrm rot="0" flipH="false" flipV="false">
            <a:off x="7569200" y="36068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线上演示数字人授课全流程</a:t>
            </a:r>
            <a:endParaRPr lang="en-US" sz="1100"/>
          </a:p>
        </p:txBody>
      </p:sp>
      <p:sp>
        <p:nvSpPr>
          <p:cNvPr name="AutoShape 21" id="21"/>
          <p:cNvSpPr txBox="true"/>
          <p:nvPr/>
        </p:nvSpPr>
        <p:spPr>
          <a:xfrm rot="0" flipH="false" flipV="false">
            <a:off x="7569200" y="41148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02　试点教室</a:t>
            </a:r>
            <a:endParaRPr lang="en-US" sz="1100"/>
          </a:p>
        </p:txBody>
      </p:sp>
      <p:sp>
        <p:nvSpPr>
          <p:cNvPr name="AutoShape 22" id="22"/>
          <p:cNvSpPr txBox="true"/>
          <p:nvPr/>
        </p:nvSpPr>
        <p:spPr>
          <a:xfrm rot="0" flipH="false" flipV="false">
            <a:off x="7569200" y="45720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选 1-2 间教室真实开课验证</a:t>
            </a:r>
            <a:endParaRPr lang="en-US" sz="1100"/>
          </a:p>
        </p:txBody>
      </p:sp>
      <p:sp>
        <p:nvSpPr>
          <p:cNvPr name="AutoShape 23" id="23"/>
          <p:cNvSpPr txBox="true"/>
          <p:nvPr/>
        </p:nvSpPr>
        <p:spPr>
          <a:xfrm rot="0" flipH="false" flipV="false">
            <a:off x="7569200" y="5080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2B2B2B"/>
                </a:solidFill>
                <a:latin typeface="Noto Sans SC"/>
                <a:ea typeface="Noto Sans SC"/>
                <a:cs typeface="Noto Sans SC"/>
                <a:sym typeface="Noto Sans SC"/>
              </a:rPr>
              <a:t>03　规模化开课</a:t>
            </a:r>
            <a:endParaRPr lang="en-US" sz="1100"/>
          </a:p>
        </p:txBody>
      </p:sp>
      <p:sp>
        <p:nvSpPr>
          <p:cNvPr name="AutoShape 24" id="24"/>
          <p:cNvSpPr txBox="true"/>
          <p:nvPr/>
        </p:nvSpPr>
        <p:spPr>
          <a:xfrm rot="0" flipH="false" flipV="false">
            <a:off x="7569200" y="5537200"/>
            <a:ext cx="381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按教室数核算订阅，逐步放量</a:t>
            </a:r>
            <a:endParaRPr lang="en-US" sz="1100"/>
          </a:p>
        </p:txBody>
      </p:sp>
      <p:sp>
        <p:nvSpPr>
          <p:cNvPr name="AutoShape 25" id="25"/>
          <p:cNvSpPr txBox="true"/>
          <p:nvPr/>
        </p:nvSpPr>
        <p:spPr>
          <a:xfrm rot="0" flipH="false" flipV="false">
            <a:off x="1016000" y="6350000"/>
            <a:ext cx="762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7A8A96"/>
                </a:solidFill>
                <a:latin typeface="Noto Sans SC"/>
                <a:ea typeface="Noto Sans SC"/>
                <a:cs typeface="Noto Sans SC"/>
                <a:sym typeface="Noto Sans SC"/>
              </a:rPr>
              <a:t>来源：AI Teacher 官网 FAQ（订阅方式、数据归属）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B2A28">
                <a:alpha val="100000"/>
              </a:srgbClr>
            </a:gs>
            <a:gs pos="100000">
              <a:srgbClr val="6E2222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 txBox="true"/>
          <p:nvPr/>
        </p:nvSpPr>
        <p:spPr>
          <a:xfrm rot="0" flipH="false" flipV="false">
            <a:off x="1016000" y="812800"/>
            <a:ext cx="635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1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TEACHER · 期待合作</a:t>
            </a:r>
            <a:endParaRPr lang="en-US" sz="1100"/>
          </a:p>
        </p:txBody>
      </p:sp>
      <p:cxnSp>
        <p:nvCxnSpPr>
          <p:cNvPr name="Connector 3" id="3"/>
          <p:cNvCxnSpPr/>
          <p:nvPr/>
        </p:nvCxnSpPr>
        <p:spPr>
          <a:xfrm rot="-4297" flipH="false" flipV="false">
            <a:off x="1016004" y="1390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4" id="4"/>
          <p:cNvSpPr txBox="true"/>
          <p:nvPr/>
        </p:nvSpPr>
        <p:spPr>
          <a:xfrm rot="0" flipH="false" flipV="false">
            <a:off x="1016000" y="2235200"/>
            <a:ext cx="10414000" cy="1219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4200">
                <a:solidFill>
                  <a:srgbClr val="FFFFFF"/>
                </a:solidFill>
                <a:latin typeface="Noto Serif SC"/>
                <a:ea typeface="Noto Serif SC"/>
                <a:cs typeface="Noto Serif SC"/>
                <a:sym typeface="Noto Serif SC"/>
              </a:rPr>
              <a:t>以 AI 为师，让每一节课都有据可依</a:t>
            </a:r>
            <a:endParaRPr lang="en-US" sz="1100"/>
          </a:p>
        </p:txBody>
      </p:sp>
      <p:sp>
        <p:nvSpPr>
          <p:cNvPr name="AutoShape 5" id="5"/>
          <p:cNvSpPr txBox="true"/>
          <p:nvPr/>
        </p:nvSpPr>
        <p:spPr>
          <a:xfrm rot="0" flipH="false" flipV="false">
            <a:off x="1016000" y="37084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EBE1"/>
                </a:solidFill>
                <a:latin typeface="Noto Sans SC"/>
                <a:ea typeface="Noto Sans SC"/>
                <a:cs typeface="Noto Sans SC"/>
                <a:sym typeface="Noto Sans SC"/>
              </a:rPr>
              <a:t>上课有根有据 · 辅导随叫随到 · 24 小时在线</a:t>
            </a:r>
            <a:endParaRPr lang="en-US" sz="1100"/>
          </a:p>
        </p:txBody>
      </p:sp>
      <p:sp>
        <p:nvSpPr>
          <p:cNvPr name="AutoShape 6" id="6"/>
          <p:cNvSpPr txBox="true"/>
          <p:nvPr/>
        </p:nvSpPr>
        <p:spPr>
          <a:xfrm rot="0" flipH="false" flipV="false">
            <a:off x="1016000" y="4419600"/>
            <a:ext cx="7620000" cy="711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33333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4902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预约演示 → 试点教室 → 规模化开课，先验证再放量。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4297" flipH="false" flipV="false">
            <a:off x="1016004" y="55816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 txBox="true"/>
          <p:nvPr/>
        </p:nvSpPr>
        <p:spPr>
          <a:xfrm rot="0" flipH="false" flipV="false">
            <a:off x="1016000" y="5842000"/>
            <a:ext cx="6350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 Teacher · K12 智能教学 SaaS · 端云协同 · 数据归学校</a:t>
            </a:r>
            <a:endParaRPr lang="en-US" sz="1100"/>
          </a:p>
        </p:txBody>
      </p:sp>
      <p:sp>
        <p:nvSpPr>
          <p:cNvPr name="AutoShape 9" id="9"/>
          <p:cNvSpPr txBox="true"/>
          <p:nvPr/>
        </p:nvSpPr>
        <p:spPr>
          <a:xfrm rot="0" flipH="false" flipV="false">
            <a:off x="7112000" y="5842000"/>
            <a:ext cx="40640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订阅制 · 按教室数核算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0" y="6318250"/>
            <a:ext cx="1524000" cy="539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